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89" r:id="rId5"/>
    <p:sldId id="340" r:id="rId6"/>
    <p:sldId id="329" r:id="rId7"/>
    <p:sldId id="336" r:id="rId8"/>
    <p:sldId id="341" r:id="rId9"/>
    <p:sldId id="343" r:id="rId10"/>
    <p:sldId id="352" r:id="rId11"/>
    <p:sldId id="344" r:id="rId12"/>
    <p:sldId id="345" r:id="rId13"/>
    <p:sldId id="353" r:id="rId14"/>
    <p:sldId id="34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876" y="1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62B9-785E-98C4-E14B-6256BCEAD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DCAE0-69B7-DB16-AAF8-1DCB1356CF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2AD2C-8D78-4B38-3FF9-78CC407929A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3B75AF8-D302-D71B-1432-C1EECA7AE27B}"/>
              </a:ext>
            </a:extLst>
          </p:cNvPr>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1712915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68852-3346-9FF7-577E-CF24E53D8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0CE9B-5F17-0712-25FA-3C36508F6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7D723-FCC6-9B39-8D3E-013DEB0BC11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2C7DB1-6577-1B22-0A99-B219258C1DDD}"/>
              </a:ext>
            </a:extLst>
          </p:cNvPr>
          <p:cNvSpPr>
            <a:spLocks noGrp="1"/>
          </p:cNvSpPr>
          <p:nvPr>
            <p:ph type="sldNum" sz="quarter" idx="5"/>
          </p:nvPr>
        </p:nvSpPr>
        <p:spPr/>
        <p:txBody>
          <a:bodyPr/>
          <a:lstStyle/>
          <a:p>
            <a:fld id="{30370952-48CC-46D7-9FCD-59FAD40CC025}" type="slidenum">
              <a:rPr lang="en-GB" smtClean="0"/>
              <a:pPr/>
              <a:t>7</a:t>
            </a:fld>
            <a:endParaRPr lang="en-GB"/>
          </a:p>
        </p:txBody>
      </p:sp>
    </p:spTree>
    <p:extLst>
      <p:ext uri="{BB962C8B-B14F-4D97-AF65-F5344CB8AC3E}">
        <p14:creationId xmlns:p14="http://schemas.microsoft.com/office/powerpoint/2010/main" val="582105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BD4C-B227-29C3-5D00-FC6B28023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427B9-179D-458C-0D07-A591C5057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BF2F6-D7B1-2031-4497-5953AB8F9B9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682DEB1-CCE5-2D6D-FDF7-D99076D52E12}"/>
              </a:ext>
            </a:extLst>
          </p:cNvPr>
          <p:cNvSpPr>
            <a:spLocks noGrp="1"/>
          </p:cNvSpPr>
          <p:nvPr>
            <p:ph type="sldNum" sz="quarter" idx="5"/>
          </p:nvPr>
        </p:nvSpPr>
        <p:spPr/>
        <p:txBody>
          <a:bodyPr/>
          <a:lstStyle/>
          <a:p>
            <a:fld id="{30370952-48CC-46D7-9FCD-59FAD40CC025}" type="slidenum">
              <a:rPr lang="en-GB" smtClean="0"/>
              <a:pPr/>
              <a:t>8</a:t>
            </a:fld>
            <a:endParaRPr lang="en-GB"/>
          </a:p>
        </p:txBody>
      </p:sp>
    </p:spTree>
    <p:extLst>
      <p:ext uri="{BB962C8B-B14F-4D97-AF65-F5344CB8AC3E}">
        <p14:creationId xmlns:p14="http://schemas.microsoft.com/office/powerpoint/2010/main" val="2652441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E2023-D659-05DD-CB54-566DCBE2D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127F9-96E6-574A-6435-D7EF8C222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77585-C8C3-28D7-13B2-F62290A660D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111C2AC-0826-F21C-0107-AC006F6DD35B}"/>
              </a:ext>
            </a:extLst>
          </p:cNvPr>
          <p:cNvSpPr>
            <a:spLocks noGrp="1"/>
          </p:cNvSpPr>
          <p:nvPr>
            <p:ph type="sldNum" sz="quarter" idx="5"/>
          </p:nvPr>
        </p:nvSpPr>
        <p:spPr/>
        <p:txBody>
          <a:bodyPr/>
          <a:lstStyle/>
          <a:p>
            <a:fld id="{30370952-48CC-46D7-9FCD-59FAD40CC025}" type="slidenum">
              <a:rPr lang="en-GB" smtClean="0"/>
              <a:pPr/>
              <a:t>9</a:t>
            </a:fld>
            <a:endParaRPr lang="en-GB"/>
          </a:p>
        </p:txBody>
      </p:sp>
    </p:spTree>
    <p:extLst>
      <p:ext uri="{BB962C8B-B14F-4D97-AF65-F5344CB8AC3E}">
        <p14:creationId xmlns:p14="http://schemas.microsoft.com/office/powerpoint/2010/main" val="3252071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9E6C-7679-BAC7-4C2B-6600BEFEC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E4D23-95A9-7440-93F7-376D40639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98703-C5C6-64AD-5339-BF89B639E01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887EC19-23F9-683F-33FF-81AFDA98B18D}"/>
              </a:ext>
            </a:extLst>
          </p:cNvPr>
          <p:cNvSpPr>
            <a:spLocks noGrp="1"/>
          </p:cNvSpPr>
          <p:nvPr>
            <p:ph type="sldNum" sz="quarter" idx="5"/>
          </p:nvPr>
        </p:nvSpPr>
        <p:spPr/>
        <p:txBody>
          <a:bodyPr/>
          <a:lstStyle/>
          <a:p>
            <a:fld id="{30370952-48CC-46D7-9FCD-59FAD40CC025}" type="slidenum">
              <a:rPr lang="en-GB" smtClean="0"/>
              <a:pPr/>
              <a:t>10</a:t>
            </a:fld>
            <a:endParaRPr lang="en-GB"/>
          </a:p>
        </p:txBody>
      </p:sp>
    </p:spTree>
    <p:extLst>
      <p:ext uri="{BB962C8B-B14F-4D97-AF65-F5344CB8AC3E}">
        <p14:creationId xmlns:p14="http://schemas.microsoft.com/office/powerpoint/2010/main" val="3361863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D8787-878B-01C9-E33D-8DB772DB6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FAD14-FED0-CCED-2A8E-98778862D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8E8B1-C207-22AE-64A0-E7A66B07C53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51E7C03-6D84-5561-23A6-9A83BC6B566D}"/>
              </a:ext>
            </a:extLst>
          </p:cNvPr>
          <p:cNvSpPr>
            <a:spLocks noGrp="1"/>
          </p:cNvSpPr>
          <p:nvPr>
            <p:ph type="sldNum" sz="quarter" idx="5"/>
          </p:nvPr>
        </p:nvSpPr>
        <p:spPr/>
        <p:txBody>
          <a:bodyPr/>
          <a:lstStyle/>
          <a:p>
            <a:fld id="{30370952-48CC-46D7-9FCD-59FAD40CC025}" type="slidenum">
              <a:rPr lang="en-GB" smtClean="0"/>
              <a:pPr/>
              <a:t>11</a:t>
            </a:fld>
            <a:endParaRPr lang="en-GB"/>
          </a:p>
        </p:txBody>
      </p:sp>
    </p:spTree>
    <p:extLst>
      <p:ext uri="{BB962C8B-B14F-4D97-AF65-F5344CB8AC3E}">
        <p14:creationId xmlns:p14="http://schemas.microsoft.com/office/powerpoint/2010/main" val="33003555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Name: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109927" y="1411094"/>
            <a:ext cx="9753625" cy="230832"/>
          </a:xfrm>
        </p:spPr>
        <p:txBody>
          <a:bodyPr vert="horz" lIns="0" tIns="0" rIns="0" bIns="0" rtlCol="0" anchor="t">
            <a:noAutofit/>
          </a:bodyPr>
          <a:lstStyle/>
          <a:p>
            <a:pPr>
              <a:spcAft>
                <a:spcPts val="0"/>
              </a:spcAft>
            </a:pPr>
            <a:r>
              <a:rPr lang="en-GB" dirty="0">
                <a:solidFill>
                  <a:srgbClr val="203232"/>
                </a:solidFill>
                <a:cs typeface="Times New Roman" panose="02020603050405020304" pitchFamily="18" charset="0"/>
              </a:rPr>
              <a:t>Here is a sample of our dataset:</a:t>
            </a:r>
          </a:p>
          <a:p>
            <a:pPr>
              <a:spcAft>
                <a:spcPts val="0"/>
              </a:spcAft>
            </a:pPr>
            <a:r>
              <a:rPr lang="en-GB" dirty="0">
                <a:solidFill>
                  <a:srgbClr val="203232"/>
                </a:solidFill>
                <a:cs typeface="Arial"/>
              </a:rPr>
              <a: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349770" y="2031166"/>
            <a:ext cx="6290873" cy="3415740"/>
          </a:xfrm>
        </p:spPr>
        <p:txBody>
          <a:bodyPr>
            <a:normAutofit fontScale="90000"/>
          </a:bodyPr>
          <a:lstStyle/>
          <a:p>
            <a:pPr>
              <a:lnSpc>
                <a:spcPct val="150000"/>
              </a:lnSpc>
            </a:pPr>
            <a:r>
              <a:rPr lang="en-US" sz="2400" b="0" dirty="0">
                <a:solidFill>
                  <a:srgbClr val="FF0000"/>
                </a:solidFill>
                <a:latin typeface="+mn-lt"/>
                <a:cs typeface="Times New Roman" panose="02020603050405020304" pitchFamily="18" charset="0"/>
              </a:rPr>
              <a:t>Dataset ID: Silver Prices Dataset (2013–2023)</a:t>
            </a:r>
            <a:br>
              <a:rPr lang="en-GB"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Total Rows: 2,481 daily observations  </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Variables used in our Research Question:</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Trading Volume (Independent variable – interval / measurement)</a:t>
            </a:r>
            <a:br>
              <a:rPr lang="en-US" sz="2400" b="0" dirty="0">
                <a:solidFill>
                  <a:srgbClr val="FF0000"/>
                </a:solidFill>
                <a:latin typeface="+mn-lt"/>
                <a:cs typeface="Times New Roman" panose="02020603050405020304" pitchFamily="18" charset="0"/>
              </a:rPr>
            </a:br>
            <a:r>
              <a:rPr lang="en-US" sz="2400" b="0" dirty="0">
                <a:solidFill>
                  <a:srgbClr val="FF0000"/>
                </a:solidFill>
                <a:latin typeface="+mn-lt"/>
                <a:cs typeface="Times New Roman" panose="02020603050405020304" pitchFamily="18" charset="0"/>
              </a:rPr>
              <a:t>Closing Price (USD/oz) (Dependent variable – interval / measurement)</a:t>
            </a:r>
            <a:br>
              <a:rPr lang="en-US" sz="1800" dirty="0">
                <a:solidFill>
                  <a:srgbClr val="FF0000"/>
                </a:solidFill>
              </a:rPr>
            </a:br>
            <a:br>
              <a:rPr lang="en-US" sz="1800" dirty="0">
                <a:solidFill>
                  <a:srgbClr val="FF0000"/>
                </a:solidFill>
              </a:rPr>
            </a:br>
            <a:br>
              <a:rPr lang="en-GB" sz="1800" dirty="0">
                <a:solidFill>
                  <a:srgbClr val="FF0000"/>
                </a:solidFill>
                <a:cs typeface="Arial"/>
              </a:rPr>
            </a:br>
            <a:br>
              <a:rPr lang="en-GB" sz="1800" dirty="0">
                <a:solidFill>
                  <a:srgbClr val="FF0000"/>
                </a:solidFill>
                <a:cs typeface="Arial"/>
              </a:rPr>
            </a:br>
            <a:endParaRPr lang="en-GB" sz="1800" dirty="0">
              <a:solidFill>
                <a:srgbClr val="FF0000"/>
              </a:solidFill>
              <a:cs typeface="Arial"/>
            </a:endParaRPr>
          </a:p>
          <a:p>
            <a:endParaRPr lang="en-US" sz="1800" dirty="0">
              <a:solidFill>
                <a:srgbClr val="FF0000"/>
              </a:solidFill>
              <a:cs typeface="Arial"/>
            </a:endParaRPr>
          </a:p>
        </p:txBody>
      </p:sp>
      <p:pic>
        <p:nvPicPr>
          <p:cNvPr id="9" name="Picture 8" descr="A screenshot of a computer&#10;&#10;AI-generated content may be incorrect.">
            <a:extLst>
              <a:ext uri="{FF2B5EF4-FFF2-40B4-BE49-F238E27FC236}">
                <a16:creationId xmlns:a16="http://schemas.microsoft.com/office/drawing/2014/main" id="{A69D34DF-1134-C9F5-D13B-3B928B104147}"/>
              </a:ext>
            </a:extLst>
          </p:cNvPr>
          <p:cNvPicPr>
            <a:picLocks noChangeAspect="1"/>
          </p:cNvPicPr>
          <p:nvPr/>
        </p:nvPicPr>
        <p:blipFill>
          <a:blip r:embed="rId3"/>
          <a:stretch>
            <a:fillRect/>
          </a:stretch>
        </p:blipFill>
        <p:spPr>
          <a:xfrm>
            <a:off x="6167821" y="2116117"/>
            <a:ext cx="5479536" cy="3507070"/>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a:t>Dataset </a:t>
            </a:r>
            <a:r>
              <a:rPr lang="en-US">
                <a:solidFill>
                  <a:srgbClr val="203232"/>
                </a:solidFill>
              </a:rPr>
              <a:t>ID</a:t>
            </a:r>
            <a:r>
              <a:rPr lang="en-US" sz="1600">
                <a:solidFill>
                  <a:srgbClr val="FF0000"/>
                </a:solidFill>
              </a:rPr>
              <a:t>:   </a:t>
            </a:r>
            <a:r>
              <a:rPr lang="en-US" sz="2400">
                <a:solidFill>
                  <a:srgbClr val="FF0000"/>
                </a:solidFill>
              </a:rPr>
              <a:t>(replace this text with your DSXXX number and filename)</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873115"/>
            <a:ext cx="10974945" cy="2803815"/>
          </a:xfrm>
        </p:spPr>
        <p:txBody>
          <a:bodyPr>
            <a:noAutofit/>
          </a:bodyPr>
          <a:lstStyle/>
          <a:p>
            <a:pPr>
              <a:lnSpc>
                <a:spcPct val="100000"/>
              </a:lnSpc>
            </a:pPr>
            <a:r>
              <a:rPr lang="en-US" sz="2400" b="0" dirty="0">
                <a:latin typeface="Calibri"/>
                <a:cs typeface="Calibri"/>
              </a:rPr>
              <a:t>This dataset is interesting to us because </a:t>
            </a:r>
            <a:r>
              <a:rPr lang="en-US" sz="2400" b="0" dirty="0">
                <a:latin typeface="Calibri" panose="020F0502020204030204" pitchFamily="34" charset="0"/>
                <a:ea typeface="Calibri" panose="020F0502020204030204" pitchFamily="34" charset="0"/>
                <a:cs typeface="Calibri" panose="020F0502020204030204" pitchFamily="34" charset="0"/>
              </a:rPr>
              <a:t>it captures how global economic conditions, investor </a:t>
            </a:r>
            <a:r>
              <a:rPr lang="en-US" sz="2400" b="0" dirty="0" err="1">
                <a:latin typeface="Calibri" panose="020F0502020204030204" pitchFamily="34" charset="0"/>
                <a:ea typeface="Calibri" panose="020F0502020204030204" pitchFamily="34" charset="0"/>
                <a:cs typeface="Calibri" panose="020F0502020204030204" pitchFamily="34" charset="0"/>
              </a:rPr>
              <a:t>behaviour</a:t>
            </a:r>
            <a:r>
              <a:rPr lang="en-US" sz="2400" b="0" dirty="0">
                <a:latin typeface="Calibri" panose="020F0502020204030204" pitchFamily="34" charset="0"/>
                <a:ea typeface="Calibri" panose="020F0502020204030204" pitchFamily="34" charset="0"/>
                <a:cs typeface="Calibri" panose="020F0502020204030204" pitchFamily="34" charset="0"/>
              </a:rPr>
              <a:t>, and commodity market activity influence silver pricing dynamics.</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 </a:t>
            </a:r>
            <a:r>
              <a:rPr lang="en-US" sz="2400" b="0" dirty="0">
                <a:latin typeface="Calibri" panose="020F0502020204030204" pitchFamily="34" charset="0"/>
                <a:ea typeface="Calibri" panose="020F0502020204030204" pitchFamily="34" charset="0"/>
                <a:cs typeface="Calibri" panose="020F0502020204030204" pitchFamily="34" charset="0"/>
              </a:rPr>
              <a:t>Trading Volume</a:t>
            </a:r>
            <a:br>
              <a:rPr lang="en-US" sz="2400" b="0" dirty="0">
                <a:latin typeface="Calibri"/>
                <a:cs typeface="Calibri"/>
              </a:rPr>
            </a:br>
            <a:r>
              <a:rPr lang="en-US" sz="2400" b="0" dirty="0">
                <a:latin typeface="Calibri"/>
                <a:cs typeface="Calibri"/>
              </a:rPr>
              <a:t>This  Independent variable datatype is : </a:t>
            </a:r>
            <a:r>
              <a:rPr lang="en-US" sz="2400" b="0" dirty="0">
                <a:latin typeface="Calibri" panose="020F0502020204030204" pitchFamily="34" charset="0"/>
                <a:ea typeface="Calibri" panose="020F0502020204030204" pitchFamily="34" charset="0"/>
                <a:cs typeface="Calibri" panose="020F0502020204030204" pitchFamily="34" charset="0"/>
              </a:rPr>
              <a:t>Interval (numeric)</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latin typeface="Calibri" panose="020F0502020204030204" pitchFamily="34" charset="0"/>
                <a:ea typeface="Calibri" panose="020F0502020204030204" pitchFamily="34" charset="0"/>
                <a:cs typeface="Calibri" panose="020F0502020204030204" pitchFamily="34" charset="0"/>
              </a:rPr>
              <a:t>Closing Price (USD/oz)</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 </a:t>
            </a:r>
            <a:r>
              <a:rPr lang="en-US" sz="2400" b="0" dirty="0">
                <a:latin typeface="Calibri" panose="020F0502020204030204" pitchFamily="34" charset="0"/>
                <a:ea typeface="Calibri" panose="020F0502020204030204" pitchFamily="34" charset="0"/>
                <a:cs typeface="Calibri" panose="020F0502020204030204" pitchFamily="34" charset="0"/>
              </a:rPr>
              <a:t>Interval (numeric)</a:t>
            </a:r>
            <a:endParaRPr lang="en-US" sz="24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42339"/>
            <a:ext cx="10961306" cy="4173064"/>
          </a:xfrm>
        </p:spPr>
        <p:txBody>
          <a:bodyPr>
            <a:noAutofit/>
          </a:bodyPr>
          <a:lstStyle/>
          <a:p>
            <a:pPr>
              <a:lnSpc>
                <a:spcPct val="150000"/>
              </a:lnSpc>
            </a:pPr>
            <a:r>
              <a:rPr lang="en-US" sz="2400" dirty="0"/>
              <a:t>“Is there a significant correlation between the daily trading volume (independent variable) and the closing price of silver (dependent variable)?”</a:t>
            </a:r>
            <a:br>
              <a:rPr lang="en-US" sz="2400" dirty="0"/>
            </a:br>
            <a:r>
              <a:rPr lang="en-US" sz="2400" dirty="0"/>
              <a:t>This follows Template 1 (Correlation):“Is there a correlation between [dependent interval/ordinal variable] and [independent interval/ordinal variable]?”</a:t>
            </a: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1142102" y="1903752"/>
            <a:ext cx="10406581" cy="4257206"/>
          </a:xfrm>
        </p:spPr>
        <p:txBody>
          <a:bodyPr vert="horz" lIns="0" tIns="0" rIns="0" bIns="0" rtlCol="0" anchor="t">
            <a:noAutofit/>
          </a:bodyPr>
          <a:lstStyle/>
          <a:p>
            <a:pPr marL="457200" indent="-457200" algn="just">
              <a:lnSpc>
                <a:spcPct val="100000"/>
              </a:lnSpc>
              <a:buFont typeface="Arial" panose="020B0604020202020204" pitchFamily="34" charset="0"/>
              <a:buAutoNum type="arabicPeriod"/>
            </a:pPr>
            <a:r>
              <a:rPr lang="en-GB" sz="2400" b="0" dirty="0">
                <a:latin typeface="Arial"/>
                <a:cs typeface="Arial"/>
              </a:rPr>
              <a:t>Null hypothesis (H</a:t>
            </a:r>
            <a:r>
              <a:rPr lang="en-GB" sz="2400" b="0" baseline="-25000" dirty="0">
                <a:latin typeface="Arial"/>
                <a:cs typeface="Arial"/>
              </a:rPr>
              <a:t>0</a:t>
            </a:r>
            <a:r>
              <a:rPr lang="en-GB" sz="2400" b="0" dirty="0">
                <a:latin typeface="Arial"/>
                <a:cs typeface="Arial"/>
              </a:rPr>
              <a:t>): </a:t>
            </a:r>
            <a:r>
              <a:rPr lang="en-US" sz="2400" b="0" dirty="0"/>
              <a:t>There is no correlation between trading volume (independent variable) and the closing price of silver (dependent variable).</a:t>
            </a:r>
            <a:endParaRPr lang="en-GB" sz="2400" b="0" dirty="0">
              <a:latin typeface="Arial"/>
              <a:cs typeface="Arial"/>
            </a:endParaRPr>
          </a:p>
          <a:p>
            <a:pPr algn="just">
              <a:lnSpc>
                <a:spcPct val="100000"/>
              </a:lnSpc>
            </a:pPr>
            <a:r>
              <a:rPr lang="en-GB" sz="2400" b="0" dirty="0">
                <a:latin typeface="Arial"/>
                <a:cs typeface="Arial"/>
              </a:rPr>
              <a:t>2. Alternative hypothesis (H</a:t>
            </a:r>
            <a:r>
              <a:rPr lang="en-GB" sz="2400" b="0" baseline="-25000" dirty="0">
                <a:latin typeface="Arial"/>
                <a:cs typeface="Arial"/>
              </a:rPr>
              <a:t>1</a:t>
            </a:r>
            <a:r>
              <a:rPr lang="en-GB" sz="2400" b="0" dirty="0">
                <a:latin typeface="Arial"/>
                <a:cs typeface="Arial"/>
              </a:rPr>
              <a:t>): </a:t>
            </a:r>
            <a:r>
              <a:rPr lang="en-US" sz="2400" b="0" dirty="0"/>
              <a:t>There is a correlation between trading volume (independent variable) and the closing price of silver (dependent variable).</a:t>
            </a:r>
            <a:endParaRPr lang="en-GB" sz="24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7" name="Subtitle 1">
            <a:extLst>
              <a:ext uri="{FF2B5EF4-FFF2-40B4-BE49-F238E27FC236}">
                <a16:creationId xmlns:a16="http://schemas.microsoft.com/office/drawing/2014/main" id="{C4084F99-C114-17E8-9FDD-6F993F912D8C}"/>
              </a:ext>
            </a:extLst>
          </p:cNvPr>
          <p:cNvSpPr txBox="1">
            <a:spLocks/>
          </p:cNvSpPr>
          <p:nvPr/>
        </p:nvSpPr>
        <p:spPr>
          <a:xfrm>
            <a:off x="1219187" y="1161898"/>
            <a:ext cx="9753625" cy="230832"/>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US" dirty="0"/>
              <a:t>Hypotheses </a:t>
            </a:r>
            <a:endParaRPr lang="en-GB" sz="1800" dirty="0">
              <a:solidFill>
                <a:srgbClr val="FF0000"/>
              </a:solidFill>
            </a:endParaRPr>
          </a:p>
        </p:txBody>
      </p:sp>
      <p:sp>
        <p:nvSpPr>
          <p:cNvPr id="9" name="TextBox 8">
            <a:extLst>
              <a:ext uri="{FF2B5EF4-FFF2-40B4-BE49-F238E27FC236}">
                <a16:creationId xmlns:a16="http://schemas.microsoft.com/office/drawing/2014/main" id="{5ED05B9F-B527-5E2F-1585-FE7BBF467D96}"/>
              </a:ext>
            </a:extLst>
          </p:cNvPr>
          <p:cNvSpPr txBox="1"/>
          <p:nvPr/>
        </p:nvSpPr>
        <p:spPr>
          <a:xfrm>
            <a:off x="389743" y="512376"/>
            <a:ext cx="8079699" cy="369332"/>
          </a:xfrm>
          <a:prstGeom prst="rect">
            <a:avLst/>
          </a:prstGeom>
          <a:noFill/>
        </p:spPr>
        <p:txBody>
          <a:bodyPr wrap="square">
            <a:spAutoFit/>
          </a:bodyPr>
          <a:lstStyle/>
          <a:p>
            <a:r>
              <a:rPr lang="en-GB" dirty="0"/>
              <a:t>PRE 7COM1079-2025  Student Group No:  ?????</a:t>
            </a:r>
          </a:p>
        </p:txBody>
      </p:sp>
    </p:spTree>
    <p:extLst>
      <p:ext uri="{BB962C8B-B14F-4D97-AF65-F5344CB8AC3E}">
        <p14:creationId xmlns:p14="http://schemas.microsoft.com/office/powerpoint/2010/main" val="295233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7427E-FD53-6075-0F65-FDE023288AA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BC8B40E-93AB-B5E0-55FA-BC10200AB094}"/>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a:t>
            </a:r>
            <a:endParaRPr lang="en-GB" dirty="0">
              <a:solidFill>
                <a:srgbClr val="FF0000"/>
              </a:solidFill>
            </a:endParaRPr>
          </a:p>
        </p:txBody>
      </p:sp>
      <p:sp>
        <p:nvSpPr>
          <p:cNvPr id="3" name="Footer Placeholder 2">
            <a:extLst>
              <a:ext uri="{FF2B5EF4-FFF2-40B4-BE49-F238E27FC236}">
                <a16:creationId xmlns:a16="http://schemas.microsoft.com/office/drawing/2014/main" id="{2AB17280-7089-64E6-83A5-2FE672BA137B}"/>
              </a:ext>
            </a:extLst>
          </p:cNvPr>
          <p:cNvSpPr>
            <a:spLocks noGrp="1"/>
          </p:cNvSpPr>
          <p:nvPr>
            <p:ph type="ftr" sz="quarter" idx="11"/>
          </p:nvPr>
        </p:nvSpPr>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57083A62-EF72-6EFB-0C91-AE9F734615D6}"/>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B173CA7F-53DC-9350-718D-F79F2F26BEFC}"/>
              </a:ext>
            </a:extLst>
          </p:cNvPr>
          <p:cNvSpPr>
            <a:spLocks noGrp="1"/>
          </p:cNvSpPr>
          <p:nvPr>
            <p:ph type="ctrTitle"/>
          </p:nvPr>
        </p:nvSpPr>
        <p:spPr>
          <a:xfrm>
            <a:off x="960292" y="1841268"/>
            <a:ext cx="10961306" cy="5016732"/>
          </a:xfrm>
        </p:spPr>
        <p:txBody>
          <a:bodyPr>
            <a:noAutofit/>
          </a:bodyPr>
          <a:lstStyle/>
          <a:p>
            <a:pPr>
              <a:lnSpc>
                <a:spcPct val="150000"/>
              </a:lnSpc>
            </a:pPr>
            <a:r>
              <a:rPr lang="en-US" sz="2400" dirty="0"/>
              <a:t>Scatterplot: Volume vs Closing Price</a:t>
            </a:r>
            <a:br>
              <a:rPr lang="en-US" sz="2400" dirty="0"/>
            </a:br>
            <a:r>
              <a:rPr lang="en-US" sz="2400" dirty="0"/>
              <a:t>The scatterplot </a:t>
            </a:r>
            <a:r>
              <a:rPr lang="en-US" sz="2400" dirty="0" err="1"/>
              <a:t>visualises</a:t>
            </a:r>
            <a:r>
              <a:rPr lang="en-US" sz="2400" dirty="0"/>
              <a:t> the relationship between trading volume (independent variable) and closing price (dependent variable). A linear trendline is included to help identify the direction and strength of association. The plot shows a weak but positive upward trend, consistent with our research question on correlation.</a:t>
            </a: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2995806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6A37A-728C-08DC-B543-63A962150FB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07CA319A-0FEA-9B64-DF5E-6860C9F6C1BA}"/>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 Code)</a:t>
            </a:r>
            <a:endParaRPr lang="en-GB" dirty="0">
              <a:solidFill>
                <a:srgbClr val="FF0000"/>
              </a:solidFill>
            </a:endParaRPr>
          </a:p>
        </p:txBody>
      </p:sp>
      <p:sp>
        <p:nvSpPr>
          <p:cNvPr id="3" name="Footer Placeholder 2">
            <a:extLst>
              <a:ext uri="{FF2B5EF4-FFF2-40B4-BE49-F238E27FC236}">
                <a16:creationId xmlns:a16="http://schemas.microsoft.com/office/drawing/2014/main" id="{2363A2EF-5B83-81BE-5CC3-ECC0B0495757}"/>
              </a:ext>
            </a:extLst>
          </p:cNvPr>
          <p:cNvSpPr>
            <a:spLocks noGrp="1"/>
          </p:cNvSpPr>
          <p:nvPr>
            <p:ph type="ftr" sz="quarter" idx="11"/>
          </p:nvPr>
        </p:nvSpPr>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D3D530A0-E369-E284-CD3A-6525FA4515DC}"/>
              </a:ext>
            </a:extLst>
          </p:cNvPr>
          <p:cNvSpPr>
            <a:spLocks noGrp="1"/>
          </p:cNvSpPr>
          <p:nvPr>
            <p:ph type="sldNum" sz="quarter" idx="12"/>
          </p:nvPr>
        </p:nvSpPr>
        <p:spPr>
          <a:xfrm>
            <a:off x="10616400" y="791022"/>
            <a:ext cx="622800" cy="230832"/>
          </a:xfrm>
        </p:spPr>
        <p:txBody>
          <a:bodyPr/>
          <a:lstStyle/>
          <a:p>
            <a:r>
              <a:rPr lang="en-US"/>
              <a:t>3</a:t>
            </a:r>
            <a:endParaRPr lang="en-GB"/>
          </a:p>
        </p:txBody>
      </p:sp>
      <p:pic>
        <p:nvPicPr>
          <p:cNvPr id="11" name="Picture 10" descr="A computer screen shot of a number of text&#10;&#10;AI-generated content may be incorrect.">
            <a:extLst>
              <a:ext uri="{FF2B5EF4-FFF2-40B4-BE49-F238E27FC236}">
                <a16:creationId xmlns:a16="http://schemas.microsoft.com/office/drawing/2014/main" id="{CFA2B240-4495-3414-88C7-C32C8B173084}"/>
              </a:ext>
            </a:extLst>
          </p:cNvPr>
          <p:cNvPicPr>
            <a:picLocks noChangeAspect="1"/>
          </p:cNvPicPr>
          <p:nvPr/>
        </p:nvPicPr>
        <p:blipFill>
          <a:blip r:embed="rId3"/>
          <a:stretch>
            <a:fillRect/>
          </a:stretch>
        </p:blipFill>
        <p:spPr>
          <a:xfrm>
            <a:off x="1276702" y="1841268"/>
            <a:ext cx="8239257" cy="3222885"/>
          </a:xfrm>
          <a:prstGeom prst="rect">
            <a:avLst/>
          </a:prstGeom>
        </p:spPr>
      </p:pic>
    </p:spTree>
    <p:extLst>
      <p:ext uri="{BB962C8B-B14F-4D97-AF65-F5344CB8AC3E}">
        <p14:creationId xmlns:p14="http://schemas.microsoft.com/office/powerpoint/2010/main" val="455597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C518-9728-A85B-3CB8-05397DC86F60}"/>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05D8033-BE6E-845E-3709-925E3AAAFD78}"/>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a:t>
            </a:r>
            <a:endParaRPr lang="en-GB" dirty="0">
              <a:solidFill>
                <a:srgbClr val="FF0000"/>
              </a:solidFill>
            </a:endParaRPr>
          </a:p>
        </p:txBody>
      </p:sp>
      <p:sp>
        <p:nvSpPr>
          <p:cNvPr id="3" name="Footer Placeholder 2">
            <a:extLst>
              <a:ext uri="{FF2B5EF4-FFF2-40B4-BE49-F238E27FC236}">
                <a16:creationId xmlns:a16="http://schemas.microsoft.com/office/drawing/2014/main" id="{AF1E2DED-A11D-8CFC-9A39-9975F11149FD}"/>
              </a:ext>
            </a:extLst>
          </p:cNvPr>
          <p:cNvSpPr>
            <a:spLocks noGrp="1"/>
          </p:cNvSpPr>
          <p:nvPr>
            <p:ph type="ftr" sz="quarter" idx="11"/>
          </p:nvPr>
        </p:nvSpPr>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2F32B691-6908-FCA5-45DD-00D6BCEDECEE}"/>
              </a:ext>
            </a:extLst>
          </p:cNvPr>
          <p:cNvSpPr>
            <a:spLocks noGrp="1"/>
          </p:cNvSpPr>
          <p:nvPr>
            <p:ph type="sldNum" sz="quarter" idx="12"/>
          </p:nvPr>
        </p:nvSpPr>
        <p:spPr>
          <a:xfrm>
            <a:off x="10616400" y="791022"/>
            <a:ext cx="622800" cy="230832"/>
          </a:xfrm>
        </p:spPr>
        <p:txBody>
          <a:bodyPr/>
          <a:lstStyle/>
          <a:p>
            <a:r>
              <a:rPr lang="en-US" dirty="0"/>
              <a:t>3</a:t>
            </a:r>
            <a:endParaRPr lang="en-GB" dirty="0"/>
          </a:p>
        </p:txBody>
      </p:sp>
      <p:pic>
        <p:nvPicPr>
          <p:cNvPr id="6" name="Picture 5" descr="A graph showing a line and a blue line&#10;&#10;AI-generated content may be incorrect.">
            <a:extLst>
              <a:ext uri="{FF2B5EF4-FFF2-40B4-BE49-F238E27FC236}">
                <a16:creationId xmlns:a16="http://schemas.microsoft.com/office/drawing/2014/main" id="{AF31B784-8B70-C60C-DA23-D0F2897D80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22885" y="1841267"/>
            <a:ext cx="7283332" cy="3899965"/>
          </a:xfrm>
          <a:prstGeom prst="rect">
            <a:avLst/>
          </a:prstGeom>
        </p:spPr>
      </p:pic>
    </p:spTree>
    <p:extLst>
      <p:ext uri="{BB962C8B-B14F-4D97-AF65-F5344CB8AC3E}">
        <p14:creationId xmlns:p14="http://schemas.microsoft.com/office/powerpoint/2010/main" val="50332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57A84-C357-4416-74D9-9BA2FBE1DE25}"/>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5883BCD-1D14-D88B-D3CB-B67B37EC3F0D}"/>
              </a:ext>
            </a:extLst>
          </p:cNvPr>
          <p:cNvSpPr>
            <a:spLocks noGrp="1"/>
          </p:cNvSpPr>
          <p:nvPr>
            <p:ph type="subTitle" idx="1"/>
          </p:nvPr>
        </p:nvSpPr>
        <p:spPr>
          <a:xfrm>
            <a:off x="680476" y="1394085"/>
            <a:ext cx="10067472" cy="374754"/>
          </a:xfrm>
        </p:spPr>
        <p:txBody>
          <a:bodyPr/>
          <a:lstStyle/>
          <a:p>
            <a:pPr>
              <a:spcAft>
                <a:spcPts val="0"/>
              </a:spcAft>
            </a:pPr>
            <a:r>
              <a:rPr lang="en-US" dirty="0" err="1"/>
              <a:t>Visualisation</a:t>
            </a:r>
            <a:r>
              <a:rPr lang="en-US" dirty="0"/>
              <a:t> Part 2 (Histogram + Normal Curve)</a:t>
            </a:r>
            <a:endParaRPr lang="en-GB" dirty="0">
              <a:solidFill>
                <a:srgbClr val="FF0000"/>
              </a:solidFill>
            </a:endParaRPr>
          </a:p>
        </p:txBody>
      </p:sp>
      <p:sp>
        <p:nvSpPr>
          <p:cNvPr id="3" name="Footer Placeholder 2">
            <a:extLst>
              <a:ext uri="{FF2B5EF4-FFF2-40B4-BE49-F238E27FC236}">
                <a16:creationId xmlns:a16="http://schemas.microsoft.com/office/drawing/2014/main" id="{5C7EAFBB-1DFE-84D4-0A9A-A9E3AB9A4346}"/>
              </a:ext>
            </a:extLst>
          </p:cNvPr>
          <p:cNvSpPr>
            <a:spLocks noGrp="1"/>
          </p:cNvSpPr>
          <p:nvPr>
            <p:ph type="ftr" sz="quarter" idx="11"/>
          </p:nvPr>
        </p:nvSpPr>
        <p:spPr>
          <a:xfrm>
            <a:off x="932813" y="791022"/>
            <a:ext cx="7176911" cy="230832"/>
          </a:xfrm>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A0AC29B7-D6C1-0195-4107-737E172CA847}"/>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FA75D39C-C1A7-1761-CC7D-ABD20B597320}"/>
              </a:ext>
            </a:extLst>
          </p:cNvPr>
          <p:cNvSpPr>
            <a:spLocks noGrp="1"/>
          </p:cNvSpPr>
          <p:nvPr>
            <p:ph type="ctrTitle"/>
          </p:nvPr>
        </p:nvSpPr>
        <p:spPr>
          <a:xfrm>
            <a:off x="932813" y="2006160"/>
            <a:ext cx="10961306" cy="5016732"/>
          </a:xfrm>
        </p:spPr>
        <p:txBody>
          <a:bodyPr>
            <a:noAutofit/>
          </a:bodyPr>
          <a:lstStyle/>
          <a:p>
            <a:pPr>
              <a:lnSpc>
                <a:spcPct val="150000"/>
              </a:lnSpc>
            </a:pPr>
            <a:r>
              <a:rPr lang="en-US" sz="2400" dirty="0"/>
              <a:t>Histogram of Daily Closing Prices</a:t>
            </a:r>
            <a:br>
              <a:rPr lang="en-US" sz="2400" dirty="0"/>
            </a:br>
            <a:r>
              <a:rPr lang="en-US" sz="2400" dirty="0"/>
              <a:t>This histogram shows the frequency distribution of the dependent variable, Closing Price, with a normal curve overlay. The distribution is moderately skewed but still suitable for a Pearson correlation test due to the large sample size (n = 2476).</a:t>
            </a: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2804183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61CB-B05F-2587-0C6F-C8CCDDEA125E}"/>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FA34F124-72EF-C882-071B-B3A8EF51848D}"/>
              </a:ext>
            </a:extLst>
          </p:cNvPr>
          <p:cNvSpPr>
            <a:spLocks noGrp="1"/>
          </p:cNvSpPr>
          <p:nvPr>
            <p:ph type="subTitle" idx="1"/>
          </p:nvPr>
        </p:nvSpPr>
        <p:spPr>
          <a:xfrm>
            <a:off x="680476" y="1394085"/>
            <a:ext cx="10067472" cy="374754"/>
          </a:xfrm>
        </p:spPr>
        <p:txBody>
          <a:bodyPr/>
          <a:lstStyle/>
          <a:p>
            <a:pPr>
              <a:spcAft>
                <a:spcPts val="0"/>
              </a:spcAft>
            </a:pPr>
            <a:r>
              <a:rPr lang="en-US" dirty="0" err="1"/>
              <a:t>Visualisation</a:t>
            </a:r>
            <a:r>
              <a:rPr lang="en-US" dirty="0"/>
              <a:t> Part 2 (Histogram Code)</a:t>
            </a:r>
            <a:endParaRPr lang="en-GB" dirty="0">
              <a:solidFill>
                <a:srgbClr val="FF0000"/>
              </a:solidFill>
            </a:endParaRPr>
          </a:p>
        </p:txBody>
      </p:sp>
      <p:sp>
        <p:nvSpPr>
          <p:cNvPr id="3" name="Footer Placeholder 2">
            <a:extLst>
              <a:ext uri="{FF2B5EF4-FFF2-40B4-BE49-F238E27FC236}">
                <a16:creationId xmlns:a16="http://schemas.microsoft.com/office/drawing/2014/main" id="{288DCA4E-1344-8D50-D402-ACB300F698F9}"/>
              </a:ext>
            </a:extLst>
          </p:cNvPr>
          <p:cNvSpPr>
            <a:spLocks noGrp="1"/>
          </p:cNvSpPr>
          <p:nvPr>
            <p:ph type="ftr" sz="quarter" idx="11"/>
          </p:nvPr>
        </p:nvSpPr>
        <p:spPr>
          <a:xfrm>
            <a:off x="932813" y="791022"/>
            <a:ext cx="7176911" cy="230832"/>
          </a:xfrm>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BC6D91B1-8929-1D99-7C29-815EED507FE6}"/>
              </a:ext>
            </a:extLst>
          </p:cNvPr>
          <p:cNvSpPr>
            <a:spLocks noGrp="1"/>
          </p:cNvSpPr>
          <p:nvPr>
            <p:ph type="sldNum" sz="quarter" idx="12"/>
          </p:nvPr>
        </p:nvSpPr>
        <p:spPr>
          <a:xfrm>
            <a:off x="10616400" y="791022"/>
            <a:ext cx="622800" cy="230832"/>
          </a:xfrm>
        </p:spPr>
        <p:txBody>
          <a:bodyPr/>
          <a:lstStyle/>
          <a:p>
            <a:r>
              <a:rPr lang="en-US"/>
              <a:t>3</a:t>
            </a:r>
            <a:endParaRPr lang="en-GB"/>
          </a:p>
        </p:txBody>
      </p:sp>
      <p:pic>
        <p:nvPicPr>
          <p:cNvPr id="9" name="Picture 8" descr="A computer screen shot of a program code&#10;&#10;AI-generated content may be incorrect.">
            <a:extLst>
              <a:ext uri="{FF2B5EF4-FFF2-40B4-BE49-F238E27FC236}">
                <a16:creationId xmlns:a16="http://schemas.microsoft.com/office/drawing/2014/main" id="{4BDBD80E-BB07-582A-95C6-9BB2AB780A5D}"/>
              </a:ext>
            </a:extLst>
          </p:cNvPr>
          <p:cNvPicPr>
            <a:picLocks noChangeAspect="1"/>
          </p:cNvPicPr>
          <p:nvPr/>
        </p:nvPicPr>
        <p:blipFill>
          <a:blip r:embed="rId3"/>
          <a:stretch>
            <a:fillRect/>
          </a:stretch>
        </p:blipFill>
        <p:spPr>
          <a:xfrm>
            <a:off x="1903401" y="1873771"/>
            <a:ext cx="6551050" cy="3477718"/>
          </a:xfrm>
          <a:prstGeom prst="rect">
            <a:avLst/>
          </a:prstGeom>
        </p:spPr>
      </p:pic>
    </p:spTree>
    <p:extLst>
      <p:ext uri="{BB962C8B-B14F-4D97-AF65-F5344CB8AC3E}">
        <p14:creationId xmlns:p14="http://schemas.microsoft.com/office/powerpoint/2010/main" val="308572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697A-E3BC-8AAC-8E40-E9E435A3E6C6}"/>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342A37D0-C4DC-7A68-7A01-B1AC8F088406}"/>
              </a:ext>
            </a:extLst>
          </p:cNvPr>
          <p:cNvSpPr>
            <a:spLocks noGrp="1"/>
          </p:cNvSpPr>
          <p:nvPr>
            <p:ph type="subTitle" idx="1"/>
          </p:nvPr>
        </p:nvSpPr>
        <p:spPr>
          <a:xfrm>
            <a:off x="954000" y="1890000"/>
            <a:ext cx="7200000" cy="360000"/>
          </a:xfrm>
        </p:spPr>
        <p:txBody>
          <a:bodyPr/>
          <a:lstStyle/>
          <a:p>
            <a:r>
              <a:rPr lang="en-US" dirty="0" err="1"/>
              <a:t>Visualisation</a:t>
            </a:r>
            <a:r>
              <a:rPr lang="en-US" dirty="0"/>
              <a:t> Part 2 (Histogram + Normal Curve)</a:t>
            </a:r>
            <a:endParaRPr lang="en-GB" dirty="0"/>
          </a:p>
        </p:txBody>
      </p:sp>
      <p:sp>
        <p:nvSpPr>
          <p:cNvPr id="3" name="Footer Placeholder 2">
            <a:extLst>
              <a:ext uri="{FF2B5EF4-FFF2-40B4-BE49-F238E27FC236}">
                <a16:creationId xmlns:a16="http://schemas.microsoft.com/office/drawing/2014/main" id="{9B427F87-1C11-50E1-2E92-4DE717AAD3A3}"/>
              </a:ext>
            </a:extLst>
          </p:cNvPr>
          <p:cNvSpPr>
            <a:spLocks noGrp="1"/>
          </p:cNvSpPr>
          <p:nvPr>
            <p:ph type="ftr" sz="quarter" idx="11"/>
          </p:nvPr>
        </p:nvSpPr>
        <p:spPr>
          <a:xfrm>
            <a:off x="965289" y="791022"/>
            <a:ext cx="7176911" cy="230832"/>
          </a:xfrm>
        </p:spPr>
        <p:txBody>
          <a:bodyPr/>
          <a:lstStyle/>
          <a:p>
            <a:r>
              <a:rPr lang="en-GB" dirty="0"/>
              <a:t>PRE 7COM1079-2025  Student Group No:  ?????</a:t>
            </a:r>
          </a:p>
        </p:txBody>
      </p:sp>
      <p:sp>
        <p:nvSpPr>
          <p:cNvPr id="4" name="Slide Number Placeholder 3">
            <a:extLst>
              <a:ext uri="{FF2B5EF4-FFF2-40B4-BE49-F238E27FC236}">
                <a16:creationId xmlns:a16="http://schemas.microsoft.com/office/drawing/2014/main" id="{830C5F2C-CCA2-F0ED-5BA5-392EEB46ECC3}"/>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18" name="Title 17">
            <a:extLst>
              <a:ext uri="{FF2B5EF4-FFF2-40B4-BE49-F238E27FC236}">
                <a16:creationId xmlns:a16="http://schemas.microsoft.com/office/drawing/2014/main" id="{36244428-5889-7CA7-2107-681C8E0548F5}"/>
              </a:ext>
            </a:extLst>
          </p:cNvPr>
          <p:cNvSpPr>
            <a:spLocks noGrp="1"/>
          </p:cNvSpPr>
          <p:nvPr>
            <p:ph type="ctrTitle"/>
          </p:nvPr>
        </p:nvSpPr>
        <p:spPr/>
        <p:txBody>
          <a:bodyPr/>
          <a:lstStyle/>
          <a:p>
            <a:endParaRPr lang="en-GB" dirty="0"/>
          </a:p>
        </p:txBody>
      </p:sp>
      <p:sp>
        <p:nvSpPr>
          <p:cNvPr id="7" name="AutoShape 4">
            <a:extLst>
              <a:ext uri="{FF2B5EF4-FFF2-40B4-BE49-F238E27FC236}">
                <a16:creationId xmlns:a16="http://schemas.microsoft.com/office/drawing/2014/main" id="{8334D4C5-3016-A248-DFD9-D0C674FF453C}"/>
              </a:ext>
            </a:extLst>
          </p:cNvPr>
          <p:cNvSpPr>
            <a:spLocks noChangeAspect="1" noChangeArrowheads="1"/>
          </p:cNvSpPr>
          <p:nvPr/>
        </p:nvSpPr>
        <p:spPr bwMode="auto">
          <a:xfrm>
            <a:off x="5943599" y="148653"/>
            <a:ext cx="3432747" cy="34327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descr="A graph of a number of blue and gray bars&#10;&#10;AI-generated content may be incorrect.">
            <a:extLst>
              <a:ext uri="{FF2B5EF4-FFF2-40B4-BE49-F238E27FC236}">
                <a16:creationId xmlns:a16="http://schemas.microsoft.com/office/drawing/2014/main" id="{8293370F-787A-F2AE-19C7-E121B67E01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6891" y="1802968"/>
            <a:ext cx="6291804" cy="4458258"/>
          </a:xfrm>
          <a:prstGeom prst="rect">
            <a:avLst/>
          </a:prstGeom>
        </p:spPr>
      </p:pic>
    </p:spTree>
    <p:extLst>
      <p:ext uri="{BB962C8B-B14F-4D97-AF65-F5344CB8AC3E}">
        <p14:creationId xmlns:p14="http://schemas.microsoft.com/office/powerpoint/2010/main" val="1813725370"/>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http://schemas.openxmlformats.org/package/2006/metadata/core-properties"/>
    <ds:schemaRef ds:uri="http://purl.org/dc/terms/"/>
    <ds:schemaRef ds:uri="http://purl.org/dc/elements/1.1/"/>
    <ds:schemaRef ds:uri="4ad138b4-2b68-4b70-945d-07f8f18b1c9a"/>
    <ds:schemaRef ds:uri="http://schemas.microsoft.com/office/2006/documentManagement/types"/>
    <ds:schemaRef ds:uri="http://schemas.microsoft.com/office/infopath/2007/PartnerControls"/>
    <ds:schemaRef ds:uri="http://schemas.microsoft.com/office/2006/metadata/properties"/>
    <ds:schemaRef ds:uri="3c474641-ec36-472f-b125-6b1b0910eaa4"/>
    <ds:schemaRef ds:uri="http://www.w3.org/XML/1998/namespace"/>
    <ds:schemaRef ds:uri="http://purl.org/dc/dcmityp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1080</TotalTime>
  <Words>733</Words>
  <Application>Microsoft Office PowerPoint</Application>
  <PresentationFormat>Widescreen</PresentationFormat>
  <Paragraphs>54</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Herts Theme</vt:lpstr>
      <vt:lpstr>Research Question –  Tutorial Presentation for Feedback Date:  </vt:lpstr>
      <vt:lpstr>Dataset ID: Silver Prices Dataset (2013–2023) Total Rows: 2,481 daily observations   Variables used in our Research Question: Trading Volume (Independent variable – interval / measurement) Closing Price (USD/oz) (Dependent variable – interval / measurement)     </vt:lpstr>
      <vt:lpstr>This dataset is interesting to us because it captures how global economic conditions, investor behaviour, and commodity market activity influence silver pricing dynamics.  Our  Independent variable is : Trading Volume This  Independent variable datatype is : Interval (numeric) Our Dependent variable is: Closing Price (USD/oz)  This Dependent variable datatype is : Interval (numeric)</vt:lpstr>
      <vt:lpstr>“Is there a significant correlation between the daily trading volume (independent variable) and the closing price of silver (dependent variable)?” This follows Template 1 (Correlation):“Is there a correlation between [dependent interval/ordinal variable] and [independent interval/ordinal variable]?”  </vt:lpstr>
      <vt:lpstr>PowerPoint Presentation</vt:lpstr>
      <vt:lpstr>Scatterplot: Volume vs Closing Price The scatterplot visualises the relationship between trading volume (independent variable) and closing price (dependent variable). A linear trendline is included to help identify the direction and strength of association. The plot shows a weak but positive upward trend, consistent with our research question on correlation.   </vt:lpstr>
      <vt:lpstr>PowerPoint Presentation</vt:lpstr>
      <vt:lpstr>PowerPoint Presentation</vt:lpstr>
      <vt:lpstr>Histogram of Daily Closing Prices This histogram shows the frequency distribution of the dependent variable, Closing Price, with a normal curve overlay. The distribution is moderately skewed but still suitable for a Pearson correlation test due to the large sample size (n = 2476).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Krishna</dc:creator>
  <cp:lastModifiedBy>Hari Krishna Tellamekala</cp:lastModifiedBy>
  <cp:revision>120</cp:revision>
  <dcterms:created xsi:type="dcterms:W3CDTF">2019-10-01T08:37:56Z</dcterms:created>
  <dcterms:modified xsi:type="dcterms:W3CDTF">2025-12-11T18:54:25Z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